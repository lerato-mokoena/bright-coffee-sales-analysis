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cbc51f5a-ff8c-7e34-2069-c6899cab0f64}">
          <p14:sldIdLst>
            <p14:sldId id="256"/>
            <p14:sldId id="257"/>
            <p14:sldId id="258"/>
          </p14:sldIdLst>
        </p14:section>
        <p14:section name="Insights" id="{bd2d1a27-4991-0a78-a155-9af3c5c78b61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Actions" id="{68736e05-fd4a-1476-fc44-1f27028ffb2e}">
          <p14:sldIdLst>
            <p14:sldId id="267"/>
            <p14:sldId id="268"/>
          </p14:sldIdLst>
        </p14:section>
        <p14:section name="Appendix" id="{652bf940-799f-8a15-b2ab-ff1f3b69c5a5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C8843F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1B1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843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8843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3A85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3A85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2C79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2C79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2C79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2C79F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E2C79F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Coffee</c:v>
                  </c:pt>
                  <c:pt idx="1">
                    <c:v>Tea</c:v>
                  </c:pt>
                  <c:pt idx="2">
                    <c:v>Bakery</c:v>
                  </c:pt>
                  <c:pt idx="3">
                    <c:v>Drinking Chocolate</c:v>
                  </c:pt>
                  <c:pt idx="4">
                    <c:v>Coffee beans</c:v>
                  </c:pt>
                  <c:pt idx="5">
                    <c:v>Branded</c:v>
                  </c:pt>
                  <c:pt idx="6">
                    <c:v>Loose Tea</c:v>
                  </c:pt>
                  <c:pt idx="7">
                    <c:v>Flavours</c:v>
                  </c:pt>
                  <c:pt idx="8">
                    <c:v>Packaged Chocolate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269952</c:v>
                </c:pt>
                <c:pt idx="1">
                  <c:v>196406</c:v>
                </c:pt>
                <c:pt idx="2">
                  <c:v>82316</c:v>
                </c:pt>
                <c:pt idx="3">
                  <c:v>72416</c:v>
                </c:pt>
                <c:pt idx="4">
                  <c:v>40085</c:v>
                </c:pt>
                <c:pt idx="5">
                  <c:v>13607</c:v>
                </c:pt>
                <c:pt idx="6">
                  <c:v>11214</c:v>
                </c:pt>
                <c:pt idx="7">
                  <c:v>8409</c:v>
                </c:pt>
                <c:pt idx="8">
                  <c:v>4408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B1B1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28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75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B5533C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1B1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5533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5533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8843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843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E7A5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8843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8843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B5533C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Sustainably Grown Organic Lg</c:v>
                  </c:pt>
                  <c:pt idx="1">
                    <c:v>Dark chocolate Lg</c:v>
                  </c:pt>
                  <c:pt idx="2">
                    <c:v>Latte Rg</c:v>
                  </c:pt>
                  <c:pt idx="3">
                    <c:v>Cappuccino Lg</c:v>
                  </c:pt>
                  <c:pt idx="4">
                    <c:v>Morning Sunrise Chai Lg</c:v>
                  </c:pt>
                  <c:pt idx="5">
                    <c:v>Latte</c:v>
                  </c:pt>
                  <c:pt idx="6">
                    <c:v>Jamaican Coffee River Lg</c:v>
                  </c:pt>
                  <c:pt idx="7">
                    <c:v>Sustainably Grown Organic Rg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21152</c:v>
                </c:pt>
                <c:pt idx="1">
                  <c:v>21006</c:v>
                </c:pt>
                <c:pt idx="2">
                  <c:v>19112</c:v>
                </c:pt>
                <c:pt idx="3">
                  <c:v>17642</c:v>
                </c:pt>
                <c:pt idx="4">
                  <c:v>17384</c:v>
                </c:pt>
                <c:pt idx="5">
                  <c:v>17258</c:v>
                </c:pt>
                <c:pt idx="6">
                  <c:v>16481</c:v>
                </c:pt>
                <c:pt idx="7">
                  <c:v>16234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B1B1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28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75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C8843F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1B1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Barista Espresso</c:v>
                  </c:pt>
                  <c:pt idx="1">
                    <c:v>Brewed Chai tea</c:v>
                  </c:pt>
                  <c:pt idx="2">
                    <c:v>Hot chocolate</c:v>
                  </c:pt>
                  <c:pt idx="3">
                    <c:v>Gourmet brewed coffee</c:v>
                  </c:pt>
                  <c:pt idx="4">
                    <c:v>Brewed Black tea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91406</c:v>
                </c:pt>
                <c:pt idx="1">
                  <c:v>77082</c:v>
                </c:pt>
                <c:pt idx="2">
                  <c:v>72416</c:v>
                </c:pt>
                <c:pt idx="3">
                  <c:v>70035</c:v>
                </c:pt>
                <c:pt idx="4">
                  <c:v>47932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B1B1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28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75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B5533C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1B1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Green coffee beans</c:v>
                  </c:pt>
                  <c:pt idx="1">
                    <c:v>Loose green tea</c:v>
                  </c:pt>
                  <c:pt idx="2">
                    <c:v>Packaged organic chocolate</c:v>
                  </c:pt>
                  <c:pt idx="3">
                    <c:v>Sugar-free syrup</c:v>
                  </c:pt>
                  <c:pt idx="4">
                    <c:v>Loose black tea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1340</c:v>
                </c:pt>
                <c:pt idx="1">
                  <c:v>1471</c:v>
                </c:pt>
                <c:pt idx="2">
                  <c:v>1680</c:v>
                </c:pt>
                <c:pt idx="3">
                  <c:v>2324</c:v>
                </c:pt>
                <c:pt idx="4">
                  <c:v>2712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B1B1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28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75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C8843F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1B1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843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8843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8843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843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8843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B1B14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81678</c:v>
                </c:pt>
                <c:pt idx="1">
                  <c:v>76145</c:v>
                </c:pt>
                <c:pt idx="2">
                  <c:v>98835</c:v>
                </c:pt>
                <c:pt idx="3">
                  <c:v>118941</c:v>
                </c:pt>
                <c:pt idx="4">
                  <c:v>156728</c:v>
                </c:pt>
                <c:pt idx="5">
                  <c:v>166486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B1B1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28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75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Coffee</c:v>
                </c:pt>
              </c:strCache>
            </c:strRef>
          </c:tx>
          <c:spPr>
            <a:solidFill>
              <a:srgbClr val="C8843F"/>
            </a:solidFill>
            <a:ln w="38100" cap="flat">
              <a:solidFill>
                <a:srgbClr val="C8843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1B1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C8843F"/>
              </a:solidFill>
              <a:ln w="9525" cap="flat">
                <a:solidFill>
                  <a:srgbClr val="C8843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31257</c:v>
                </c:pt>
                <c:pt idx="1">
                  <c:v>29269</c:v>
                </c:pt>
                <c:pt idx="2">
                  <c:v>38304</c:v>
                </c:pt>
                <c:pt idx="3">
                  <c:v>45971</c:v>
                </c:pt>
                <c:pt idx="4">
                  <c:v>60363</c:v>
                </c:pt>
                <c:pt idx="5">
                  <c:v>64789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Tea</c:v>
                </c:pt>
              </c:strCache>
            </c:strRef>
          </c:tx>
          <c:spPr>
            <a:solidFill>
              <a:srgbClr val="5E7A5A"/>
            </a:solidFill>
            <a:ln w="38100" cap="flat">
              <a:solidFill>
                <a:srgbClr val="5E7A5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1B1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5E7A5A"/>
              </a:solidFill>
              <a:ln w="9525" cap="flat">
                <a:solidFill>
                  <a:srgbClr val="5E7A5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22622</c:v>
                </c:pt>
                <c:pt idx="1">
                  <c:v>21733</c:v>
                </c:pt>
                <c:pt idx="2">
                  <c:v>27911</c:v>
                </c:pt>
                <c:pt idx="3">
                  <c:v>33357</c:v>
                </c:pt>
                <c:pt idx="4">
                  <c:v>44540</c:v>
                </c:pt>
                <c:pt idx="5">
                  <c:v>46243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Bakery</c:v>
                </c:pt>
              </c:strCache>
            </c:strRef>
          </c:tx>
          <c:spPr>
            <a:solidFill>
              <a:srgbClr val="B5533C"/>
            </a:solidFill>
            <a:ln w="38100" cap="flat">
              <a:solidFill>
                <a:srgbClr val="B553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1B1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B5533C"/>
              </a:solidFill>
              <a:ln w="9525" cap="flat">
                <a:solidFill>
                  <a:srgbClr val="B553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9536</c:v>
                </c:pt>
                <c:pt idx="1">
                  <c:v>9039</c:v>
                </c:pt>
                <c:pt idx="2">
                  <c:v>11903</c:v>
                </c:pt>
                <c:pt idx="3">
                  <c:v>14022</c:v>
                </c:pt>
                <c:pt idx="4">
                  <c:v>18566</c:v>
                </c:pt>
                <c:pt idx="5">
                  <c:v>19251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Drinking Chocolate</c:v>
                </c:pt>
              </c:strCache>
            </c:strRef>
          </c:tx>
          <c:spPr>
            <a:solidFill>
              <a:srgbClr val="6B4128"/>
            </a:solidFill>
            <a:ln w="38100" cap="flat">
              <a:solidFill>
                <a:srgbClr val="6B412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1B1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6B4128"/>
              </a:solidFill>
              <a:ln w="9525" cap="flat">
                <a:solidFill>
                  <a:srgbClr val="6B412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8338</c:v>
                </c:pt>
                <c:pt idx="1">
                  <c:v>8132</c:v>
                </c:pt>
                <c:pt idx="2">
                  <c:v>10254</c:v>
                </c:pt>
                <c:pt idx="3">
                  <c:v>12267</c:v>
                </c:pt>
                <c:pt idx="4">
                  <c:v>16320</c:v>
                </c:pt>
                <c:pt idx="5">
                  <c:v>17106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B1B14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28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4D6C3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75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D281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C8843F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1B1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843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3A85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5533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Morning</c:v>
                  </c:pt>
                  <c:pt idx="1">
                    <c:v>Afternoon</c:v>
                  </c:pt>
                  <c:pt idx="2">
                    <c:v>Evening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388289</c:v>
                </c:pt>
                <c:pt idx="1">
                  <c:v>244855</c:v>
                </c:pt>
                <c:pt idx="2">
                  <c:v>65669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B1B1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D28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75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revenue</c:v>
                </c:pt>
              </c:strCache>
            </c:strRef>
          </c:tx>
          <c:spPr>
            <a:solidFill>
              <a:srgbClr val="C8843F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1B1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843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8843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8843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843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8843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3A857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3A857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3911</c:v>
                </c:pt>
                <c:pt idx="1">
                  <c:v>3825</c:v>
                </c:pt>
                <c:pt idx="2">
                  <c:v>3858</c:v>
                </c:pt>
                <c:pt idx="3">
                  <c:v>3876</c:v>
                </c:pt>
                <c:pt idx="4">
                  <c:v>3899</c:v>
                </c:pt>
                <c:pt idx="5">
                  <c:v>3876</c:v>
                </c:pt>
                <c:pt idx="6">
                  <c:v>3782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B1B1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28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75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B1B14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1B1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Hell's Kitchen</c:v>
                  </c:pt>
                  <c:pt idx="1">
                    <c:v>Astoria</c:v>
                  </c:pt>
                  <c:pt idx="2">
                    <c:v>Lower Manhattan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236511</c:v>
                </c:pt>
                <c:pt idx="1">
                  <c:v>232244</c:v>
                </c:pt>
                <c:pt idx="2">
                  <c:v>230057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B1B1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28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75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deck answers the CEO's four questions: which products make the most money, when the store performs best, how sales trend, and what to do next. Data covers 1 Jan to 30 Jun 2023 across three stores.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numbers first. Revenue per month rose from about $82K in January to $166K in June. All numbers come from the Bright Coffee Shop workbook.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 follows the case study plan: source data, conversion to CSV, transformation and SQL grouping in Databricks, pivot tables and charts in Excel, then this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Coffee is $270K and tea $196K. Together 67% of revenue. Drinking chocolate is fourth at $72K from only four menu items. Branded, loose tea, flavours and packaged chocolate together are under 6%.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eight products by revenue. Hot chocolate takes the top two spots; lattes appear twice in different sizes. Five of the top eight are large (Lg) sizes.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top five product types by revenue. Right: the five lowest. Barista Espresso alone earns about 68 times the revenue of the lowest type, green coffee beans.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Monthly revenue climbed every month after a small February dip. Second quarter revenue of about $442K is 63% of the half-year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Coffee, tea, hot chocolate and bakery each roughly doubled between January and June. Growth is broad-based, so it points to rising footfall rather than one hero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Morning earns $388K (56%), afternoon $245K (35%), evening $66K (9%). The evening share is about 9% in every single month, so this is a structural gap rather than a seasonal one. The workbook records time bands, not clock times, so 30-minute intervals could not be reported.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Average revenue per trading day is nearly identical Monday to Sunday, so weekends are as busy as weekdays. The three stores finish within 3% of each other, so campaigns can be rolled out chain-wide.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categories earn just over 5% of revenue combined. Flavours sells in high volume at a very low price, so it suits add-on selling. Packaged chocolate, loose tea and branded items carry high prices per unit, so even small volume gains lift revenue.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recommendation follows directly from the data. The illustration assumes morning and afternoon stay unchanged and evening grows to 12% of sales; it is a planning scenario, not a forecast.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follow-ups from the case study brief: automate daily reporting, track multiple locations as the business grows, and build loyalty programmes around the peak slots.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answer questions about how the numbers were produced and the limits of the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2B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103120"/>
            <a:ext cx="667512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4389120"/>
            <a:ext cx="6583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Bright Coffee Shop  |  Sales Analysis  |  Jan - Jun 2023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_DARK">
    <p:bg>
      <p:bgPr>
        <a:solidFill>
          <a:srgbClr val="2B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Bright Coffee Shop  |  Sales Analysis  |  Jan - Jun 2023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4-1.png"/><Relationship Id="rId3" Type="http://schemas.openxmlformats.org/officeDocument/2006/relationships/image" Target="../media/image-4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right Coffee Shop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40080"/>
            <a:ext cx="1005840" cy="10058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011680" y="777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2011680" y="1188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 O F F E E   S H O P</a:t>
            </a:r>
            <a:endParaRPr lang="en-US" sz="1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822960" y="2103120"/>
            <a:ext cx="6675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Sales Analysis: what sells, when, and where to grow</a:t>
            </a:r>
            <a:endParaRPr lang="en-US" sz="40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822960" y="438912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Presentation to the CEO  |  Data: January - June 2023</a:t>
            </a:r>
            <a:endParaRPr lang="en-US" sz="1800" dirty="0"/>
          </a:p>
        </p:txBody>
      </p:sp>
      <p:sp>
        <p:nvSpPr>
          <p:cNvPr id="7" name="Tile Coffee"/>
          <p:cNvSpPr/>
          <p:nvPr/>
        </p:nvSpPr>
        <p:spPr>
          <a:xfrm>
            <a:off x="7863840" y="1234440"/>
            <a:ext cx="1234440" cy="1280160"/>
          </a:xfrm>
          <a:prstGeom prst="roundRect">
            <a:avLst>
              <a:gd name="adj" fmla="val 888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Image 1" descr="Coffe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2" y="1344168"/>
            <a:ext cx="914400" cy="9144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863840" y="224028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Coffee</a:t>
            </a:r>
            <a:endParaRPr lang="en-US" sz="1000" dirty="0"/>
          </a:p>
        </p:txBody>
      </p:sp>
      <p:sp>
        <p:nvSpPr>
          <p:cNvPr id="10" name="Tile Tea"/>
          <p:cNvSpPr/>
          <p:nvPr/>
        </p:nvSpPr>
        <p:spPr>
          <a:xfrm>
            <a:off x="9217152" y="1234440"/>
            <a:ext cx="1234440" cy="1280160"/>
          </a:xfrm>
          <a:prstGeom prst="roundRect">
            <a:avLst>
              <a:gd name="adj" fmla="val 888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1" name="Image 2" descr="Te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1744" y="1344168"/>
            <a:ext cx="914400" cy="9144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217152" y="224028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Tea</a:t>
            </a:r>
            <a:endParaRPr lang="en-US" sz="1000" dirty="0"/>
          </a:p>
        </p:txBody>
      </p:sp>
      <p:sp>
        <p:nvSpPr>
          <p:cNvPr id="13" name="Tile Bakery"/>
          <p:cNvSpPr/>
          <p:nvPr/>
        </p:nvSpPr>
        <p:spPr>
          <a:xfrm>
            <a:off x="10570464" y="1234440"/>
            <a:ext cx="1234440" cy="1280160"/>
          </a:xfrm>
          <a:prstGeom prst="roundRect">
            <a:avLst>
              <a:gd name="adj" fmla="val 888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4" name="Image 3" descr="Baker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5056" y="1344168"/>
            <a:ext cx="914400" cy="9144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570464" y="224028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Bakery</a:t>
            </a:r>
            <a:endParaRPr lang="en-US" sz="1000" dirty="0"/>
          </a:p>
        </p:txBody>
      </p:sp>
      <p:sp>
        <p:nvSpPr>
          <p:cNvPr id="16" name="Tile Drinking Chocolate"/>
          <p:cNvSpPr/>
          <p:nvPr/>
        </p:nvSpPr>
        <p:spPr>
          <a:xfrm>
            <a:off x="7863840" y="2651760"/>
            <a:ext cx="1234440" cy="1280160"/>
          </a:xfrm>
          <a:prstGeom prst="roundRect">
            <a:avLst>
              <a:gd name="adj" fmla="val 888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7" name="Image 4" descr="Drinking Chocolat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8432" y="2761488"/>
            <a:ext cx="914400" cy="9144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863840" y="36576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Drinking Chocolate</a:t>
            </a:r>
            <a:endParaRPr lang="en-US" sz="1000" dirty="0"/>
          </a:p>
        </p:txBody>
      </p:sp>
      <p:sp>
        <p:nvSpPr>
          <p:cNvPr id="19" name="Tile Coffee beans"/>
          <p:cNvSpPr/>
          <p:nvPr/>
        </p:nvSpPr>
        <p:spPr>
          <a:xfrm>
            <a:off x="9217152" y="2651760"/>
            <a:ext cx="1234440" cy="1280160"/>
          </a:xfrm>
          <a:prstGeom prst="roundRect">
            <a:avLst>
              <a:gd name="adj" fmla="val 888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0" name="Image 5" descr="Coffee bean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1744" y="2761488"/>
            <a:ext cx="914400" cy="91440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9217152" y="36576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Coffee beans</a:t>
            </a:r>
            <a:endParaRPr lang="en-US" sz="1000" dirty="0"/>
          </a:p>
        </p:txBody>
      </p:sp>
      <p:sp>
        <p:nvSpPr>
          <p:cNvPr id="22" name="Tile Branded"/>
          <p:cNvSpPr/>
          <p:nvPr/>
        </p:nvSpPr>
        <p:spPr>
          <a:xfrm>
            <a:off x="10570464" y="2651760"/>
            <a:ext cx="1234440" cy="1280160"/>
          </a:xfrm>
          <a:prstGeom prst="roundRect">
            <a:avLst>
              <a:gd name="adj" fmla="val 888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3" name="Image 6" descr="Branded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35056" y="2761488"/>
            <a:ext cx="914400" cy="91440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570464" y="36576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Branded</a:t>
            </a:r>
            <a:endParaRPr lang="en-US" sz="1000" dirty="0"/>
          </a:p>
        </p:txBody>
      </p:sp>
      <p:sp>
        <p:nvSpPr>
          <p:cNvPr id="25" name="Tile Loose Tea"/>
          <p:cNvSpPr/>
          <p:nvPr/>
        </p:nvSpPr>
        <p:spPr>
          <a:xfrm>
            <a:off x="7863840" y="4069080"/>
            <a:ext cx="1234440" cy="1280160"/>
          </a:xfrm>
          <a:prstGeom prst="roundRect">
            <a:avLst>
              <a:gd name="adj" fmla="val 888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6" name="Image 7" descr="Loose Tea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28432" y="4178808"/>
            <a:ext cx="914400" cy="914400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7863840" y="507492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Loose Tea</a:t>
            </a:r>
            <a:endParaRPr lang="en-US" sz="1000" dirty="0"/>
          </a:p>
        </p:txBody>
      </p:sp>
      <p:sp>
        <p:nvSpPr>
          <p:cNvPr id="28" name="Tile Flavours"/>
          <p:cNvSpPr/>
          <p:nvPr/>
        </p:nvSpPr>
        <p:spPr>
          <a:xfrm>
            <a:off x="9217152" y="4069080"/>
            <a:ext cx="1234440" cy="1280160"/>
          </a:xfrm>
          <a:prstGeom prst="roundRect">
            <a:avLst>
              <a:gd name="adj" fmla="val 888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9" name="Image 8" descr="Flavours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81744" y="4178808"/>
            <a:ext cx="914400" cy="914400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9217152" y="507492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Flavours</a:t>
            </a:r>
            <a:endParaRPr lang="en-US" sz="1000" dirty="0"/>
          </a:p>
        </p:txBody>
      </p:sp>
      <p:sp>
        <p:nvSpPr>
          <p:cNvPr id="31" name="Tile Packaged Chocolate"/>
          <p:cNvSpPr/>
          <p:nvPr/>
        </p:nvSpPr>
        <p:spPr>
          <a:xfrm>
            <a:off x="10570464" y="4069080"/>
            <a:ext cx="1234440" cy="1280160"/>
          </a:xfrm>
          <a:prstGeom prst="roundRect">
            <a:avLst>
              <a:gd name="adj" fmla="val 888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2" name="Image 9" descr="Packaged Chocolat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35056" y="4178808"/>
            <a:ext cx="914400" cy="914400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10570464" y="507492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Packaged Chocolate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Six months, $698.8K, and revenue has doubled</a:t>
            </a:r>
            <a:endParaRPr lang="en-US" sz="2800" dirty="0"/>
          </a:p>
        </p:txBody>
      </p:sp>
      <p:sp>
        <p:nvSpPr>
          <p:cNvPr id="4" name="Stat card"/>
          <p:cNvSpPr/>
          <p:nvPr/>
        </p:nvSpPr>
        <p:spPr>
          <a:xfrm>
            <a:off x="548640" y="1508760"/>
            <a:ext cx="26517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645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$698.8K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468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Total revenue, Jan - Jun 2023</a:t>
            </a:r>
            <a:endParaRPr lang="en-US" sz="1400" dirty="0"/>
          </a:p>
        </p:txBody>
      </p:sp>
      <p:sp>
        <p:nvSpPr>
          <p:cNvPr id="7" name="Stat card"/>
          <p:cNvSpPr/>
          <p:nvPr/>
        </p:nvSpPr>
        <p:spPr>
          <a:xfrm>
            <a:off x="3364992" y="1508760"/>
            <a:ext cx="26517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93592" y="1645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214,470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3593592" y="2468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Units sold across 3 stores</a:t>
            </a:r>
            <a:endParaRPr lang="en-US" sz="1400" dirty="0"/>
          </a:p>
        </p:txBody>
      </p:sp>
      <p:sp>
        <p:nvSpPr>
          <p:cNvPr id="10" name="Stat card"/>
          <p:cNvSpPr/>
          <p:nvPr/>
        </p:nvSpPr>
        <p:spPr>
          <a:xfrm>
            <a:off x="6181344" y="1508760"/>
            <a:ext cx="26517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9944" y="1645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+104%</a:t>
            </a:r>
            <a:endParaRPr lang="en-US" sz="4400" dirty="0"/>
          </a:p>
        </p:txBody>
      </p:sp>
      <p:sp>
        <p:nvSpPr>
          <p:cNvPr id="12" name="Text 9"/>
          <p:cNvSpPr txBox="1"/>
          <p:nvPr/>
        </p:nvSpPr>
        <p:spPr>
          <a:xfrm>
            <a:off x="6409944" y="2468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Monthly revenue, June vs January</a:t>
            </a:r>
            <a:endParaRPr lang="en-US" sz="1400" dirty="0"/>
          </a:p>
        </p:txBody>
      </p:sp>
      <p:sp>
        <p:nvSpPr>
          <p:cNvPr id="13" name="Stat card"/>
          <p:cNvSpPr/>
          <p:nvPr/>
        </p:nvSpPr>
        <p:spPr>
          <a:xfrm>
            <a:off x="8997696" y="1508760"/>
            <a:ext cx="26517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226296" y="1645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56%</a:t>
            </a:r>
            <a:endParaRPr lang="en-US" sz="4400" dirty="0"/>
          </a:p>
        </p:txBody>
      </p:sp>
      <p:sp>
        <p:nvSpPr>
          <p:cNvPr id="15" name="Text 12"/>
          <p:cNvSpPr txBox="1"/>
          <p:nvPr/>
        </p:nvSpPr>
        <p:spPr>
          <a:xfrm>
            <a:off x="9226296" y="2468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Of revenue earned in the morning</a:t>
            </a:r>
            <a:endParaRPr lang="en-US" sz="1400" dirty="0"/>
          </a:p>
        </p:txBody>
      </p:sp>
      <p:sp>
        <p:nvSpPr>
          <p:cNvPr id="16" name="Marker"/>
          <p:cNvSpPr/>
          <p:nvPr/>
        </p:nvSpPr>
        <p:spPr>
          <a:xfrm>
            <a:off x="548640" y="36850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097280" y="36576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Products: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Coffee and tea bring in 67% of revenue; hot chocolate is #4 from only four menu items.</a:t>
            </a:r>
            <a:endParaRPr lang="en-US" sz="1600" dirty="0"/>
          </a:p>
        </p:txBody>
      </p:sp>
      <p:sp>
        <p:nvSpPr>
          <p:cNvPr id="19" name="Marker"/>
          <p:cNvSpPr/>
          <p:nvPr/>
        </p:nvSpPr>
        <p:spPr>
          <a:xfrm>
            <a:off x="548640" y="43434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097280" y="43159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Timing: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Mornings earn 56% of sales. Evening earns just 9%, and that has not moved all year.</a:t>
            </a:r>
            <a:endParaRPr lang="en-US" sz="1600" dirty="0"/>
          </a:p>
        </p:txBody>
      </p:sp>
      <p:sp>
        <p:nvSpPr>
          <p:cNvPr id="22" name="Marker"/>
          <p:cNvSpPr/>
          <p:nvPr/>
        </p:nvSpPr>
        <p:spPr>
          <a:xfrm>
            <a:off x="548640" y="50017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5001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097280" y="497433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Trend: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Every core category roughly doubled from January to June, in all three stores.</a:t>
            </a:r>
            <a:endParaRPr lang="en-US" sz="1600" dirty="0"/>
          </a:p>
        </p:txBody>
      </p:sp>
      <p:sp>
        <p:nvSpPr>
          <p:cNvPr id="25" name="Marker"/>
          <p:cNvSpPr/>
          <p:nvPr/>
        </p:nvSpPr>
        <p:spPr>
          <a:xfrm>
            <a:off x="548640" y="566013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" y="5660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1097280" y="563270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Action: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Grow the evening, protect best-sellers, and lift the small add-on categories.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From raw sales data to CEO insights</a:t>
            </a:r>
            <a:endParaRPr lang="en-US" sz="2800" dirty="0"/>
          </a:p>
        </p:txBody>
      </p:sp>
      <p:sp>
        <p:nvSpPr>
          <p:cNvPr id="4" name="Step card"/>
          <p:cNvSpPr/>
          <p:nvPr/>
        </p:nvSpPr>
        <p:spPr>
          <a:xfrm>
            <a:off x="548640" y="1828800"/>
            <a:ext cx="2011680" cy="24688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tep marker"/>
          <p:cNvSpPr/>
          <p:nvPr/>
        </p:nvSpPr>
        <p:spPr>
          <a:xfrm>
            <a:off x="731520" y="20574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2918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Bright Coffee Shop Sales workbook (Excel)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2542032" y="2743200"/>
            <a:ext cx="2880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›</a:t>
            </a:r>
            <a:endParaRPr lang="en-US" sz="3200" dirty="0"/>
          </a:p>
        </p:txBody>
      </p:sp>
      <p:sp>
        <p:nvSpPr>
          <p:cNvPr id="10" name="Step card"/>
          <p:cNvSpPr/>
          <p:nvPr/>
        </p:nvSpPr>
        <p:spPr>
          <a:xfrm>
            <a:off x="2811780" y="1828800"/>
            <a:ext cx="2011680" cy="24688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tep marker"/>
          <p:cNvSpPr/>
          <p:nvPr/>
        </p:nvSpPr>
        <p:spPr>
          <a:xfrm>
            <a:off x="2994660" y="205740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99466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299466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2994660" y="32918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Excel to CSV, ready to load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805172" y="2743200"/>
            <a:ext cx="2880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›</a:t>
            </a:r>
            <a:endParaRPr lang="en-US" sz="3200" dirty="0"/>
          </a:p>
        </p:txBody>
      </p:sp>
      <p:sp>
        <p:nvSpPr>
          <p:cNvPr id="16" name="Step card"/>
          <p:cNvSpPr/>
          <p:nvPr/>
        </p:nvSpPr>
        <p:spPr>
          <a:xfrm>
            <a:off x="5074920" y="1828800"/>
            <a:ext cx="2011680" cy="24688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tep marker"/>
          <p:cNvSpPr/>
          <p:nvPr/>
        </p:nvSpPr>
        <p:spPr>
          <a:xfrm>
            <a:off x="5257800" y="20574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25780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525780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5257800" y="32918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Databricks + SQL: revenue = units x price, time bands, group-bys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068312" y="2743200"/>
            <a:ext cx="2880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›</a:t>
            </a:r>
            <a:endParaRPr lang="en-US" sz="3200" dirty="0"/>
          </a:p>
        </p:txBody>
      </p:sp>
      <p:sp>
        <p:nvSpPr>
          <p:cNvPr id="22" name="Step card"/>
          <p:cNvSpPr/>
          <p:nvPr/>
        </p:nvSpPr>
        <p:spPr>
          <a:xfrm>
            <a:off x="7338060" y="1828800"/>
            <a:ext cx="2011680" cy="24688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Step marker"/>
          <p:cNvSpPr/>
          <p:nvPr/>
        </p:nvSpPr>
        <p:spPr>
          <a:xfrm>
            <a:off x="7520940" y="205740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52094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752094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7520940" y="32918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Excel pivot tables and dashboard with charts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9331452" y="2743200"/>
            <a:ext cx="2880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›</a:t>
            </a:r>
            <a:endParaRPr lang="en-US" sz="3200" dirty="0"/>
          </a:p>
        </p:txBody>
      </p:sp>
      <p:sp>
        <p:nvSpPr>
          <p:cNvPr id="28" name="Step card"/>
          <p:cNvSpPr/>
          <p:nvPr/>
        </p:nvSpPr>
        <p:spPr>
          <a:xfrm>
            <a:off x="9601200" y="1828800"/>
            <a:ext cx="2011680" cy="24688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tep marker"/>
          <p:cNvSpPr/>
          <p:nvPr/>
        </p:nvSpPr>
        <p:spPr>
          <a:xfrm>
            <a:off x="9784080" y="205740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78408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31" name="Text 28"/>
          <p:cNvSpPr txBox="1"/>
          <p:nvPr/>
        </p:nvSpPr>
        <p:spPr>
          <a:xfrm>
            <a:off x="978408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</a:t>
            </a:r>
            <a:endParaRPr lang="en-US" sz="2000" dirty="0"/>
          </a:p>
        </p:txBody>
      </p:sp>
      <p:sp>
        <p:nvSpPr>
          <p:cNvPr id="32" name="Text 29"/>
          <p:cNvSpPr txBox="1"/>
          <p:nvPr/>
        </p:nvSpPr>
        <p:spPr>
          <a:xfrm>
            <a:off x="9784080" y="32918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Insights and recommendations for the CEO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4754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Data: 61,078 daily sales rows  |  3 stores  |  9 categories, 29 product types, 80 products  |  1 Jan - 30 Jun 2023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Coffee and tea generate two-thirds of revenue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74980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Insight card"/>
          <p:cNvSpPr/>
          <p:nvPr/>
        </p:nvSpPr>
        <p:spPr>
          <a:xfrm>
            <a:off x="8412480" y="1554480"/>
            <a:ext cx="3200400" cy="45720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6" name="Image 0" descr="Coffe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0" y="1737360"/>
            <a:ext cx="822960" cy="822960"/>
          </a:xfrm>
          <a:prstGeom prst="rect">
            <a:avLst/>
          </a:prstGeom>
        </p:spPr>
      </p:pic>
      <p:pic>
        <p:nvPicPr>
          <p:cNvPr id="7" name="Image 1" descr="Te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1737360"/>
            <a:ext cx="822960" cy="822960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8641080" y="26517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67%</a:t>
            </a:r>
            <a:endParaRPr lang="en-US" sz="4400" dirty="0"/>
          </a:p>
        </p:txBody>
      </p:sp>
      <p:sp>
        <p:nvSpPr>
          <p:cNvPr id="9" name="Text 3"/>
          <p:cNvSpPr txBox="1"/>
          <p:nvPr/>
        </p:nvSpPr>
        <p:spPr>
          <a:xfrm>
            <a:off x="8641080" y="3474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of revenue from Coffee + Tea</a:t>
            </a:r>
            <a:endParaRPr lang="en-US" sz="1400" dirty="0"/>
          </a:p>
        </p:txBody>
      </p:sp>
      <p:sp>
        <p:nvSpPr>
          <p:cNvPr id="10" name="Text 4"/>
          <p:cNvSpPr txBox="1"/>
          <p:nvPr/>
        </p:nvSpPr>
        <p:spPr>
          <a:xfrm>
            <a:off x="8641080" y="42519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Hot chocolate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is #4 at $72.4K from just 4 menu items.</a:t>
            </a:r>
            <a:endParaRPr lang="en-US" sz="1400" dirty="0"/>
          </a:p>
        </p:txBody>
      </p:sp>
      <p:sp>
        <p:nvSpPr>
          <p:cNvPr id="11" name="Text 5"/>
          <p:cNvSpPr txBox="1"/>
          <p:nvPr/>
        </p:nvSpPr>
        <p:spPr>
          <a:xfrm>
            <a:off x="8641080" y="51663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The four smallest categories add up to 5% of revenue.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Best-sellers: hot chocolate and lattes lead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74980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Insight card"/>
          <p:cNvSpPr/>
          <p:nvPr/>
        </p:nvSpPr>
        <p:spPr>
          <a:xfrm>
            <a:off x="8412480" y="1554480"/>
            <a:ext cx="3200400" cy="45720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64108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Colour = category</a:t>
            </a:r>
            <a:endParaRPr lang="en-US" sz="1200" dirty="0"/>
          </a:p>
        </p:txBody>
      </p:sp>
      <p:sp>
        <p:nvSpPr>
          <p:cNvPr id="7" name="Legend dot"/>
          <p:cNvSpPr/>
          <p:nvPr/>
        </p:nvSpPr>
        <p:spPr>
          <a:xfrm>
            <a:off x="8641080" y="2121408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961120" y="20756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Coffee</a:t>
            </a:r>
            <a:endParaRPr lang="en-US" sz="1400" dirty="0"/>
          </a:p>
        </p:txBody>
      </p:sp>
      <p:sp>
        <p:nvSpPr>
          <p:cNvPr id="9" name="Legend dot"/>
          <p:cNvSpPr/>
          <p:nvPr/>
        </p:nvSpPr>
        <p:spPr>
          <a:xfrm>
            <a:off x="8641080" y="2450592"/>
            <a:ext cx="182880" cy="1828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961120" y="24048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Drinking chocolate</a:t>
            </a:r>
            <a:endParaRPr lang="en-US" sz="1400" dirty="0"/>
          </a:p>
        </p:txBody>
      </p:sp>
      <p:sp>
        <p:nvSpPr>
          <p:cNvPr id="11" name="Legend dot"/>
          <p:cNvSpPr/>
          <p:nvPr/>
        </p:nvSpPr>
        <p:spPr>
          <a:xfrm>
            <a:off x="8641080" y="2779776"/>
            <a:ext cx="182880" cy="1828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961120" y="27340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Tea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641080" y="32004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of 8</a:t>
            </a:r>
            <a:endParaRPr lang="en-US" sz="4400" dirty="0"/>
          </a:p>
        </p:txBody>
      </p:sp>
      <p:sp>
        <p:nvSpPr>
          <p:cNvPr id="14" name="Text 10"/>
          <p:cNvSpPr txBox="1"/>
          <p:nvPr/>
        </p:nvSpPr>
        <p:spPr>
          <a:xfrm>
            <a:off x="8641080" y="4023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top sellers are Large sizes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8641080" y="46634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Large sizes carry a higher price per cup. Offer Large first at the till.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Product types: a few giants and a long tail</a:t>
            </a:r>
            <a:endParaRPr lang="en-US" sz="2800" dirty="0"/>
          </a:p>
        </p:txBody>
      </p:sp>
      <p:sp>
        <p:nvSpPr>
          <p:cNvPr id="4" name="Top panel"/>
          <p:cNvSpPr/>
          <p:nvPr/>
        </p:nvSpPr>
        <p:spPr>
          <a:xfrm>
            <a:off x="548640" y="1463040"/>
            <a:ext cx="5486400" cy="4754880"/>
          </a:xfrm>
          <a:prstGeom prst="roundRect">
            <a:avLst>
              <a:gd name="adj" fmla="val 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ottom panel"/>
          <p:cNvSpPr/>
          <p:nvPr/>
        </p:nvSpPr>
        <p:spPr>
          <a:xfrm>
            <a:off x="6172200" y="1463040"/>
            <a:ext cx="5486400" cy="4754880"/>
          </a:xfrm>
          <a:prstGeom prst="roundRect">
            <a:avLst>
              <a:gd name="adj" fmla="val 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Highest revenue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Lowest revenue</a:t>
            </a:r>
            <a:endParaRPr lang="en-US" sz="2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85800" y="2057400"/>
          <a:ext cx="52120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Chart 1" descr=""/>
          <p:cNvGraphicFramePr/>
          <p:nvPr/>
        </p:nvGraphicFramePr>
        <p:xfrm>
          <a:off x="6309360" y="2057400"/>
          <a:ext cx="52120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Revenue doubled from January to June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74980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Insight card"/>
          <p:cNvSpPr/>
          <p:nvPr/>
        </p:nvSpPr>
        <p:spPr>
          <a:xfrm>
            <a:off x="8412480" y="1554480"/>
            <a:ext cx="3200400" cy="45720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641080" y="17373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+104%</a:t>
            </a:r>
            <a:endParaRPr lang="en-US" sz="4400" dirty="0"/>
          </a:p>
        </p:txBody>
      </p:sp>
      <p:sp>
        <p:nvSpPr>
          <p:cNvPr id="7" name="Text 3"/>
          <p:cNvSpPr txBox="1"/>
          <p:nvPr/>
        </p:nvSpPr>
        <p:spPr>
          <a:xfrm>
            <a:off x="8641080" y="2560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June vs January revenue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8641080" y="32918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63%</a:t>
            </a:r>
            <a:endParaRPr lang="en-US" sz="4400" dirty="0"/>
          </a:p>
        </p:txBody>
      </p:sp>
      <p:sp>
        <p:nvSpPr>
          <p:cNvPr id="9" name="Text 5"/>
          <p:cNvSpPr txBox="1"/>
          <p:nvPr/>
        </p:nvSpPr>
        <p:spPr>
          <a:xfrm>
            <a:off x="8641080" y="4114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of half-year revenue came in Apr - Jun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641080" y="49377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February was the only dip, at $76K.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Every core category grew at the same pace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74980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Insight card"/>
          <p:cNvSpPr/>
          <p:nvPr/>
        </p:nvSpPr>
        <p:spPr>
          <a:xfrm>
            <a:off x="8412480" y="1554480"/>
            <a:ext cx="3200400" cy="45720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64108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June vs January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8641080" y="21945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2.1x</a:t>
            </a:r>
            <a:endParaRPr lang="en-US" sz="3200" dirty="0"/>
          </a:p>
        </p:txBody>
      </p:sp>
      <p:sp>
        <p:nvSpPr>
          <p:cNvPr id="8" name="Text 4"/>
          <p:cNvSpPr txBox="1"/>
          <p:nvPr/>
        </p:nvSpPr>
        <p:spPr>
          <a:xfrm>
            <a:off x="9875520" y="21945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Coffee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8641080" y="30632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2.0x</a:t>
            </a:r>
            <a:endParaRPr lang="en-US" sz="3200" dirty="0"/>
          </a:p>
        </p:txBody>
      </p:sp>
      <p:sp>
        <p:nvSpPr>
          <p:cNvPr id="10" name="Text 6"/>
          <p:cNvSpPr txBox="1"/>
          <p:nvPr/>
        </p:nvSpPr>
        <p:spPr>
          <a:xfrm>
            <a:off x="9875520" y="30632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Tea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8641080" y="39319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2.0x</a:t>
            </a:r>
            <a:endParaRPr lang="en-US" sz="3200" dirty="0"/>
          </a:p>
        </p:txBody>
      </p:sp>
      <p:sp>
        <p:nvSpPr>
          <p:cNvPr id="12" name="Text 8"/>
          <p:cNvSpPr txBox="1"/>
          <p:nvPr/>
        </p:nvSpPr>
        <p:spPr>
          <a:xfrm>
            <a:off x="9875520" y="39319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Bakery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8641080" y="48006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2.1x</a:t>
            </a:r>
            <a:endParaRPr lang="en-US" sz="3200" dirty="0"/>
          </a:p>
        </p:txBody>
      </p:sp>
      <p:sp>
        <p:nvSpPr>
          <p:cNvPr id="14" name="Text 10"/>
          <p:cNvSpPr txBox="1"/>
          <p:nvPr/>
        </p:nvSpPr>
        <p:spPr>
          <a:xfrm>
            <a:off x="9875520" y="48006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Drinking Chocolate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8641080" y="5623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Broad growth points to more customers, not one hero product.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Mornings win; evenings are the untapped slot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5836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ime card"/>
          <p:cNvSpPr/>
          <p:nvPr/>
        </p:nvSpPr>
        <p:spPr>
          <a:xfrm>
            <a:off x="7498080" y="1554480"/>
            <a:ext cx="411480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726680" y="16916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56%</a:t>
            </a:r>
            <a:endParaRPr lang="en-US" sz="4800" dirty="0"/>
          </a:p>
        </p:txBody>
      </p:sp>
      <p:sp>
        <p:nvSpPr>
          <p:cNvPr id="7" name="Text 3"/>
          <p:cNvSpPr txBox="1"/>
          <p:nvPr/>
        </p:nvSpPr>
        <p:spPr>
          <a:xfrm>
            <a:off x="9509760" y="17830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Morning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$388K revenue</a:t>
            </a:r>
            <a:endParaRPr lang="en-US" sz="1600" dirty="0"/>
          </a:p>
        </p:txBody>
      </p:sp>
      <p:sp>
        <p:nvSpPr>
          <p:cNvPr id="8" name="Time card"/>
          <p:cNvSpPr/>
          <p:nvPr/>
        </p:nvSpPr>
        <p:spPr>
          <a:xfrm>
            <a:off x="7498080" y="3108960"/>
            <a:ext cx="411480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26680" y="32461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4800" dirty="0"/>
          </a:p>
        </p:txBody>
      </p:sp>
      <p:sp>
        <p:nvSpPr>
          <p:cNvPr id="10" name="Text 6"/>
          <p:cNvSpPr txBox="1"/>
          <p:nvPr/>
        </p:nvSpPr>
        <p:spPr>
          <a:xfrm>
            <a:off x="9509760" y="33375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Afternoon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$245K revenue</a:t>
            </a:r>
            <a:endParaRPr lang="en-US" sz="1600" dirty="0"/>
          </a:p>
        </p:txBody>
      </p:sp>
      <p:sp>
        <p:nvSpPr>
          <p:cNvPr id="11" name="Time card"/>
          <p:cNvSpPr/>
          <p:nvPr/>
        </p:nvSpPr>
        <p:spPr>
          <a:xfrm>
            <a:off x="7498080" y="4663440"/>
            <a:ext cx="411480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726680" y="480060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9%</a:t>
            </a:r>
            <a:endParaRPr lang="en-US" sz="4800" dirty="0"/>
          </a:p>
        </p:txBody>
      </p:sp>
      <p:sp>
        <p:nvSpPr>
          <p:cNvPr id="13" name="Text 9"/>
          <p:cNvSpPr txBox="1"/>
          <p:nvPr/>
        </p:nvSpPr>
        <p:spPr>
          <a:xfrm>
            <a:off x="9509760" y="48920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Evening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$66K revenue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Demand is steady across the week and across stores</a:t>
            </a:r>
            <a:endParaRPr lang="en-US" sz="2800" dirty="0"/>
          </a:p>
        </p:txBody>
      </p:sp>
      <p:sp>
        <p:nvSpPr>
          <p:cNvPr id="4" name="Day panel"/>
          <p:cNvSpPr/>
          <p:nvPr/>
        </p:nvSpPr>
        <p:spPr>
          <a:xfrm>
            <a:off x="548640" y="1463040"/>
            <a:ext cx="6400800" cy="4754880"/>
          </a:xfrm>
          <a:prstGeom prst="roundRect">
            <a:avLst>
              <a:gd name="adj" fmla="val 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tore panel"/>
          <p:cNvSpPr/>
          <p:nvPr/>
        </p:nvSpPr>
        <p:spPr>
          <a:xfrm>
            <a:off x="7086600" y="1463040"/>
            <a:ext cx="4526280" cy="475488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revenue per trading day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0" y="16002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store</a:t>
            </a:r>
            <a:endParaRPr lang="en-US" sz="1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85800" y="2103120"/>
          <a:ext cx="612648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Chart 1" descr=""/>
          <p:cNvGraphicFramePr/>
          <p:nvPr/>
        </p:nvGraphicFramePr>
        <p:xfrm>
          <a:off x="7223760" y="2103120"/>
          <a:ext cx="42519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Four small categories are the growth opportunity</a:t>
            </a:r>
            <a:endParaRPr lang="en-US" sz="2800" dirty="0"/>
          </a:p>
        </p:txBody>
      </p:sp>
      <p:sp>
        <p:nvSpPr>
          <p:cNvPr id="4" name="Category card"/>
          <p:cNvSpPr/>
          <p:nvPr/>
        </p:nvSpPr>
        <p:spPr>
          <a:xfrm>
            <a:off x="548640" y="1508760"/>
            <a:ext cx="2651760" cy="35661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Image 0" descr="Brand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1005840" cy="10058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7724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Branded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777240" y="3108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Housewares and clothing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35204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$13.6K</a:t>
            </a:r>
            <a:endParaRPr lang="en-US" sz="36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4297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776 units  |  $17.53 per unit</a:t>
            </a:r>
            <a:endParaRPr lang="en-US" sz="1400" dirty="0"/>
          </a:p>
        </p:txBody>
      </p:sp>
      <p:sp>
        <p:nvSpPr>
          <p:cNvPr id="10" name="Category card"/>
          <p:cNvSpPr/>
          <p:nvPr/>
        </p:nvSpPr>
        <p:spPr>
          <a:xfrm>
            <a:off x="3353105" y="1508760"/>
            <a:ext cx="2651760" cy="35661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1" name="Image 1" descr="Loose T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985" y="1645920"/>
            <a:ext cx="1005840" cy="10058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581705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Loose Tea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3581705" y="3108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Chai, herbal, black, green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3581705" y="35204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$11.2K</a:t>
            </a:r>
            <a:endParaRPr lang="en-US" sz="3600" dirty="0"/>
          </a:p>
        </p:txBody>
      </p:sp>
      <p:sp>
        <p:nvSpPr>
          <p:cNvPr id="15" name="Text 10"/>
          <p:cNvSpPr txBox="1"/>
          <p:nvPr/>
        </p:nvSpPr>
        <p:spPr>
          <a:xfrm>
            <a:off x="3581705" y="4297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1,210 units  |  $9.27 per unit</a:t>
            </a:r>
            <a:endParaRPr lang="en-US" sz="1400" dirty="0"/>
          </a:p>
        </p:txBody>
      </p:sp>
      <p:sp>
        <p:nvSpPr>
          <p:cNvPr id="16" name="Category card"/>
          <p:cNvSpPr/>
          <p:nvPr/>
        </p:nvSpPr>
        <p:spPr>
          <a:xfrm>
            <a:off x="6157570" y="1508760"/>
            <a:ext cx="2651760" cy="35661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Image 2" descr="Flavou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0450" y="1645920"/>
            <a:ext cx="1005840" cy="10058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38617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Flavours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6386170" y="3108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Regular and sugar-free syrup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6386170" y="35204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$8.4K</a:t>
            </a:r>
            <a:endParaRPr lang="en-US" sz="3600" dirty="0"/>
          </a:p>
        </p:txBody>
      </p:sp>
      <p:sp>
        <p:nvSpPr>
          <p:cNvPr id="21" name="Text 15"/>
          <p:cNvSpPr txBox="1"/>
          <p:nvPr/>
        </p:nvSpPr>
        <p:spPr>
          <a:xfrm>
            <a:off x="6386170" y="4297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10,511 units  |  $0.80 per unit</a:t>
            </a:r>
            <a:endParaRPr lang="en-US" sz="1400" dirty="0"/>
          </a:p>
        </p:txBody>
      </p:sp>
      <p:sp>
        <p:nvSpPr>
          <p:cNvPr id="22" name="Category card"/>
          <p:cNvSpPr/>
          <p:nvPr/>
        </p:nvSpPr>
        <p:spPr>
          <a:xfrm>
            <a:off x="8962034" y="1508760"/>
            <a:ext cx="2651760" cy="35661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3" name="Image 3" descr="Packaged Chocolat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914" y="1645920"/>
            <a:ext cx="1005840" cy="100584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190634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Packaged Chocolate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9190634" y="3108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Drinking and organic bars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9190634" y="35204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$4.4K</a:t>
            </a:r>
            <a:endParaRPr lang="en-US" sz="3600" dirty="0"/>
          </a:p>
        </p:txBody>
      </p:sp>
      <p:sp>
        <p:nvSpPr>
          <p:cNvPr id="27" name="Text 20"/>
          <p:cNvSpPr txBox="1"/>
          <p:nvPr/>
        </p:nvSpPr>
        <p:spPr>
          <a:xfrm>
            <a:off x="9190634" y="4297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487 units  |  $9.05 per unit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548640" y="53949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5533C"/>
                </a:solidFill>
              </a:rPr>
              <a:t>5% of revenue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comes from these four categories combined. Flavours sell in volume at about $0.80 each; the others carry premium prices, so small gains still count.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Three recommendations to grow revenue</a:t>
            </a:r>
            <a:endParaRPr lang="en-US" sz="2800" dirty="0"/>
          </a:p>
        </p:txBody>
      </p:sp>
      <p:sp>
        <p:nvSpPr>
          <p:cNvPr id="4" name="Rec card"/>
          <p:cNvSpPr/>
          <p:nvPr/>
        </p:nvSpPr>
        <p:spPr>
          <a:xfrm>
            <a:off x="548640" y="1463040"/>
            <a:ext cx="3566160" cy="3749040"/>
          </a:xfrm>
          <a:prstGeom prst="roundRect">
            <a:avLst>
              <a:gd name="adj" fmla="val 307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822960" y="1691640"/>
            <a:ext cx="1097280" cy="109728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6" name="Image 0" descr="Market the slow evening sl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83080"/>
            <a:ext cx="914400" cy="9144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2960" y="29718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the slow evening slot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37490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Evening earns only 9% of revenue. Launch an evening hot chocolate, chai and bakery bundle with a loyalty stamp for after-work visits.</a:t>
            </a:r>
            <a:endParaRPr lang="en-US" sz="1400" dirty="0"/>
          </a:p>
        </p:txBody>
      </p:sp>
      <p:sp>
        <p:nvSpPr>
          <p:cNvPr id="9" name="Rec card"/>
          <p:cNvSpPr/>
          <p:nvPr/>
        </p:nvSpPr>
        <p:spPr>
          <a:xfrm>
            <a:off x="4297680" y="1463040"/>
            <a:ext cx="3566160" cy="3749040"/>
          </a:xfrm>
          <a:prstGeom prst="roundRect">
            <a:avLst>
              <a:gd name="adj" fmla="val 307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4572000" y="1691640"/>
            <a:ext cx="1097280" cy="109728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1" name="Image 1" descr="Stock up on best-sell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783080"/>
            <a:ext cx="914400" cy="9144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572000" y="29718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 up on best-sellers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4572000" y="37490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Barista Espresso, Brewed Chai, hot chocolate and Large sizes lead. Protect supply before the morning rush, when 56% of sales happen.</a:t>
            </a:r>
            <a:endParaRPr lang="en-US" sz="1400" dirty="0"/>
          </a:p>
        </p:txBody>
      </p:sp>
      <p:sp>
        <p:nvSpPr>
          <p:cNvPr id="14" name="Rec card"/>
          <p:cNvSpPr/>
          <p:nvPr/>
        </p:nvSpPr>
        <p:spPr>
          <a:xfrm>
            <a:off x="8046720" y="1463040"/>
            <a:ext cx="3566160" cy="3749040"/>
          </a:xfrm>
          <a:prstGeom prst="roundRect">
            <a:avLst>
              <a:gd name="adj" fmla="val 307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Icon circle"/>
          <p:cNvSpPr/>
          <p:nvPr/>
        </p:nvSpPr>
        <p:spPr>
          <a:xfrm>
            <a:off x="8321040" y="1691640"/>
            <a:ext cx="1097280" cy="109728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6" name="Image 2" descr="Promote the underperform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783080"/>
            <a:ext cx="914400" cy="9144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321040" y="29718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Promote the underperformers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8321040" y="37490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Offer syrups as one-tap add-ons and bundle beans, loose tea and branded items at the till. Sample loose tea beside the brewed chai.</a:t>
            </a:r>
            <a:endParaRPr lang="en-US" sz="1400" dirty="0"/>
          </a:p>
        </p:txBody>
      </p:sp>
      <p:sp>
        <p:nvSpPr>
          <p:cNvPr id="19" name="Illustration bar"/>
          <p:cNvSpPr/>
          <p:nvPr/>
        </p:nvSpPr>
        <p:spPr>
          <a:xfrm>
            <a:off x="548640" y="5440680"/>
            <a:ext cx="11064240" cy="73152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822960" y="5440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Illustration: 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lifting evening from 9% to 12% of sales would add about $20.7K every six months.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Next steps to keep the momentum going</a:t>
            </a:r>
            <a:endParaRPr lang="en-US" sz="2800" dirty="0"/>
          </a:p>
        </p:txBody>
      </p:sp>
      <p:sp>
        <p:nvSpPr>
          <p:cNvPr id="4" name="Step row"/>
          <p:cNvSpPr/>
          <p:nvPr/>
        </p:nvSpPr>
        <p:spPr>
          <a:xfrm>
            <a:off x="548640" y="1554480"/>
            <a:ext cx="11064240" cy="1325880"/>
          </a:xfrm>
          <a:prstGeom prst="roundRect">
            <a:avLst>
              <a:gd name="adj" fmla="val 827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Number circle"/>
          <p:cNvSpPr/>
          <p:nvPr/>
        </p:nvSpPr>
        <p:spPr>
          <a:xfrm>
            <a:off x="868680" y="18745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1828800" y="173736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 daily sales reporting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828800" y="224028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Refresh the dashboard every day so trends and slow slots are visible straight away.</a:t>
            </a:r>
            <a:endParaRPr lang="en-US" sz="1600" dirty="0"/>
          </a:p>
        </p:txBody>
      </p:sp>
      <p:sp>
        <p:nvSpPr>
          <p:cNvPr id="9" name="Step row"/>
          <p:cNvSpPr/>
          <p:nvPr/>
        </p:nvSpPr>
        <p:spPr>
          <a:xfrm>
            <a:off x="548640" y="3063240"/>
            <a:ext cx="11064240" cy="1325880"/>
          </a:xfrm>
          <a:prstGeom prst="roundRect">
            <a:avLst>
              <a:gd name="adj" fmla="val 827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Number circle"/>
          <p:cNvSpPr/>
          <p:nvPr/>
        </p:nvSpPr>
        <p:spPr>
          <a:xfrm>
            <a:off x="868680" y="33832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3383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1828800" y="324612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performance across locations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1828800" y="374904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Use one shared view for all three stores today and any new sites in future.</a:t>
            </a:r>
            <a:endParaRPr lang="en-US" sz="1600" dirty="0"/>
          </a:p>
        </p:txBody>
      </p:sp>
      <p:sp>
        <p:nvSpPr>
          <p:cNvPr id="14" name="Step row"/>
          <p:cNvSpPr/>
          <p:nvPr/>
        </p:nvSpPr>
        <p:spPr>
          <a:xfrm>
            <a:off x="548640" y="4572000"/>
            <a:ext cx="11064240" cy="1325880"/>
          </a:xfrm>
          <a:prstGeom prst="roundRect">
            <a:avLst>
              <a:gd name="adj" fmla="val 827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Number circle"/>
          <p:cNvSpPr/>
          <p:nvPr/>
        </p:nvSpPr>
        <p:spPr>
          <a:xfrm>
            <a:off x="868680" y="48920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8680" y="4892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1828800" y="475488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loyalty programmes by time slot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1828800" y="5257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Reward morning regulars and build evening habits with time-based offers.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Appendix: data and method notes</a:t>
            </a:r>
            <a:endParaRPr lang="en-US" sz="2800" dirty="0"/>
          </a:p>
        </p:txBody>
      </p:sp>
      <p:sp>
        <p:nvSpPr>
          <p:cNvPr id="4" name="Note row"/>
          <p:cNvSpPr/>
          <p:nvPr/>
        </p:nvSpPr>
        <p:spPr>
          <a:xfrm>
            <a:off x="548640" y="1463040"/>
            <a:ext cx="1106424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46304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Period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2834640" y="146304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 January - 30 June 2023 (181 trading days)</a:t>
            </a:r>
            <a:endParaRPr lang="en-US" sz="1400" dirty="0"/>
          </a:p>
        </p:txBody>
      </p:sp>
      <p:sp>
        <p:nvSpPr>
          <p:cNvPr id="7" name="Note row"/>
          <p:cNvSpPr/>
          <p:nvPr/>
        </p:nvSpPr>
        <p:spPr>
          <a:xfrm>
            <a:off x="548640" y="2240280"/>
            <a:ext cx="1106424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24028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Records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2834640" y="224028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61,078 daily sales rows; 3 stores; 9 categories; 29 product types; 80 products</a:t>
            </a:r>
            <a:endParaRPr lang="en-US" sz="1400" dirty="0"/>
          </a:p>
        </p:txBody>
      </p:sp>
      <p:sp>
        <p:nvSpPr>
          <p:cNvPr id="10" name="Note row"/>
          <p:cNvSpPr/>
          <p:nvPr/>
        </p:nvSpPr>
        <p:spPr>
          <a:xfrm>
            <a:off x="548640" y="3017520"/>
            <a:ext cx="1106424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301752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Revenue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834640" y="301752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Revenue = units sold x price, summed per row in the workbook (total $698.8K)</a:t>
            </a:r>
            <a:endParaRPr lang="en-US" sz="1400" dirty="0"/>
          </a:p>
        </p:txBody>
      </p:sp>
      <p:sp>
        <p:nvSpPr>
          <p:cNvPr id="13" name="Note row"/>
          <p:cNvSpPr/>
          <p:nvPr/>
        </p:nvSpPr>
        <p:spPr>
          <a:xfrm>
            <a:off x="548640" y="3794760"/>
            <a:ext cx="1106424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379476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Time of day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2834640" y="379476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Morning, Afternoon, Evening bands. The workbook has no clock time, so 30-minute buckets could not be built</a:t>
            </a:r>
            <a:endParaRPr lang="en-US" sz="1400" dirty="0"/>
          </a:p>
        </p:txBody>
      </p:sp>
      <p:sp>
        <p:nvSpPr>
          <p:cNvPr id="16" name="Note row"/>
          <p:cNvSpPr/>
          <p:nvPr/>
        </p:nvSpPr>
        <p:spPr>
          <a:xfrm>
            <a:off x="548640" y="4572000"/>
            <a:ext cx="1106424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" y="457200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Day type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2834640" y="457200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Monday to Sunday, plus weekday vs weekend classification</a:t>
            </a:r>
            <a:endParaRPr lang="en-US" sz="1400" dirty="0"/>
          </a:p>
        </p:txBody>
      </p:sp>
      <p:sp>
        <p:nvSpPr>
          <p:cNvPr id="19" name="Note row"/>
          <p:cNvSpPr/>
          <p:nvPr/>
        </p:nvSpPr>
        <p:spPr>
          <a:xfrm>
            <a:off x="548640" y="5349240"/>
            <a:ext cx="1106424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7240" y="534924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Tools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2834640" y="534924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Excel pivot tables and dashboard, SQL for grouping, PowerPoint for this deck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right Coffee">
  <a:themeElements>
    <a:clrScheme name="Bright Coffee">
      <a:dk1>
        <a:srgbClr val="2B1B14"/>
      </a:dk1>
      <a:lt1>
        <a:srgbClr val="FFFFFF"/>
      </a:lt1>
      <a:dk2>
        <a:srgbClr val="3D281D"/>
      </a:dk2>
      <a:lt2>
        <a:srgbClr val="F7F1EA"/>
      </a:lt2>
      <a:accent1>
        <a:srgbClr val="C8843F"/>
      </a:accent1>
      <a:accent2>
        <a:srgbClr val="5E7A5A"/>
      </a:accent2>
      <a:accent3>
        <a:srgbClr val="B5533C"/>
      </a:accent3>
      <a:accent4>
        <a:srgbClr val="E3A857"/>
      </a:accent4>
      <a:accent5>
        <a:srgbClr val="6B4128"/>
      </a:accent5>
      <a:accent6>
        <a:srgbClr val="8A7566"/>
      </a:accent6>
      <a:hlink>
        <a:srgbClr val="C8843F"/>
      </a:hlink>
      <a:folHlink>
        <a:srgbClr val="8A7566"/>
      </a:folHlink>
    </a:clrScheme>
    <a:fontScheme name="Bright Coffe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 Coffee Shop - Sales Analysis</dc:title>
  <dc:subject>PptxGenJS Presentation</dc:subject>
  <dc:creator>Junior Data Analyst</dc:creator>
  <cp:lastModifiedBy>Junior Data Analyst</cp:lastModifiedBy>
  <cp:revision>1</cp:revision>
  <dcterms:created xsi:type="dcterms:W3CDTF">2026-10-11T19:32:59Z</dcterms:created>
  <dcterms:modified xsi:type="dcterms:W3CDTF">2026-10-11T19:32:59Z</dcterms:modified>
</cp:coreProperties>
</file>